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5" r:id="rId27"/>
    <p:sldId id="271" r:id="rId20"/>
    <p:sldId id="272" r:id="rId21"/>
    <p:sldId id="273" r:id="rId22"/>
    <p:sldId id="274" r:id="rId23"/>
  </p:sldIdLst>
  <p:sldSz cy="6858000" cx="12192000"/>
  <p:notesSz cx="6858000" cy="9144000"/>
  <p:embeddedFontLst>
    <p:embeddedFont>
      <p:font typeface="Play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ire4oIhi+LsE7EUyFrNPmnbSW8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font" Target="fonts/Play-regular.fntdata"/><Relationship Id="rId25" Type="http://schemas.openxmlformats.org/officeDocument/2006/relationships/font" Target="fonts/Play-bold.fntdata"/><Relationship Id="rId26" Type="http://customschemas.google.com/relationships/presentationmetadata" Target="metadata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955b94820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f955b94820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g3f955b94820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955b94820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f955b94820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g3f955b94820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955b9482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f955b9482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g3f955b9482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59835" y="283029"/>
            <a:ext cx="1216480" cy="1216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5685" y="138794"/>
            <a:ext cx="1504950" cy="15049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0" y="1573850"/>
            <a:ext cx="12192000" cy="20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“ORIGIN: A PROJECT GAP AND SIMILARITY FINDER”</a:t>
            </a:r>
            <a:br>
              <a:rPr b="1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Program: B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Semester: 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881743" y="4419598"/>
            <a:ext cx="5214257" cy="2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Submitted By:</a:t>
            </a:r>
            <a:b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Sandesh Dotel [Roll No.]</a:t>
            </a:r>
            <a:br>
              <a:rPr b="0" i="0" lang="en-US" sz="2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Bhumika Karki [Roll No.]</a:t>
            </a:r>
            <a:endParaRPr b="0" i="0" sz="28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Diwakar Ray Yadav [Roll No.]</a:t>
            </a:r>
            <a:endParaRPr b="0" i="0" sz="28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5431971" y="4419598"/>
            <a:ext cx="6096000" cy="1246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Submitted To</a:t>
            </a: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b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5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Department of Science and Technology </a:t>
            </a:r>
            <a:br>
              <a:rPr b="0" i="0" lang="en-US" sz="25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5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Purbanchal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September 2026</a:t>
            </a:r>
          </a:p>
        </p:txBody>
      </p:sp>
      <p:sp>
        <p:nvSpPr>
          <p:cNvPr id="94" name="Google Shape;9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>
            <p:ph type="title"/>
          </p:nvPr>
        </p:nvSpPr>
        <p:spPr>
          <a:xfrm>
            <a:off x="831850" y="169182"/>
            <a:ext cx="10528300" cy="1015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b="1" lang="en-US" sz="4200">
                <a:latin typeface="Arial"/>
                <a:ea typeface="Arial"/>
                <a:cs typeface="Arial"/>
                <a:sym typeface="Arial"/>
              </a:rPr>
              <a:t>Table Of Content</a:t>
            </a:r>
            <a:endParaRPr/>
          </a:p>
        </p:txBody>
      </p:sp>
      <p:sp>
        <p:nvSpPr>
          <p:cNvPr id="100" name="Google Shape;100;p2"/>
          <p:cNvSpPr txBox="1"/>
          <p:nvPr>
            <p:ph idx="1" type="body"/>
          </p:nvPr>
        </p:nvSpPr>
        <p:spPr>
          <a:xfrm>
            <a:off x="1010558" y="1211942"/>
            <a:ext cx="10343242" cy="5476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marL="32400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sz="2000"/>
              <a:t>Introduction and problem statement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324000" indent="-216000">
              <a:spcAft>
                <a:spcPts val="600"/>
              </a:spcAft>
              <a:buSzPct val="100000"/>
              <a:buFont typeface="Arial"/>
              <a:buChar char="•"/>
            </a:pPr>
            <a:r>
              <a:rPr sz="2000"/>
              <a:t>Objectives and scope</a:t>
            </a:r>
          </a:p>
          <a:p>
            <a:pPr marL="324000" indent="-216000">
              <a:spcAft>
                <a:spcPts val="600"/>
              </a:spcAft>
              <a:buSzPct val="100000"/>
              <a:buFont typeface="Arial"/>
              <a:buChar char="•"/>
            </a:pPr>
            <a:r>
              <a:rPr sz="2000"/>
              <a:t>Feasibility and literature review</a:t>
            </a:r>
          </a:p>
          <a:p>
            <a:pPr marL="324000" indent="-216000">
              <a:spcAft>
                <a:spcPts val="600"/>
              </a:spcAft>
              <a:buSzPct val="100000"/>
              <a:buFont typeface="Arial"/>
              <a:buChar char="•"/>
            </a:pPr>
            <a:r>
              <a:rPr sz="2000"/>
              <a:t>SDLC model and system architecture</a:t>
            </a:r>
          </a:p>
          <a:p>
            <a:pPr marL="324000" indent="-216000">
              <a:spcAft>
                <a:spcPts val="600"/>
              </a:spcAft>
              <a:buSzPct val="100000"/>
              <a:buFont typeface="Arial"/>
              <a:buChar char="•"/>
            </a:pPr>
            <a:r>
              <a:rPr sz="2000"/>
              <a:t>System flow, use case and data flow diagrams</a:t>
            </a:r>
          </a:p>
          <a:p>
            <a:pPr marL="324000" indent="-216000">
              <a:spcAft>
                <a:spcPts val="600"/>
              </a:spcAft>
              <a:buSzPct val="100000"/>
              <a:buFont typeface="Arial"/>
              <a:buChar char="•"/>
            </a:pPr>
            <a:r>
              <a:rPr sz="2000"/>
              <a:t>ER diagram</a:t>
            </a:r>
          </a:p>
          <a:p>
            <a:pPr marL="324000" indent="-216000">
              <a:spcAft>
                <a:spcPts val="600"/>
              </a:spcAft>
              <a:buSzPct val="100000"/>
              <a:buFont typeface="Arial"/>
              <a:buChar char="•"/>
            </a:pPr>
            <a:r>
              <a:rPr sz="2000"/>
              <a:t>Hardware and software requirements</a:t>
            </a:r>
          </a:p>
          <a:p>
            <a:pPr marL="324000" indent="-216000">
              <a:spcAft>
                <a:spcPts val="600"/>
              </a:spcAft>
              <a:buSzPct val="100000"/>
              <a:buFont typeface="Arial"/>
              <a:buChar char="•"/>
            </a:pPr>
            <a:r>
              <a:rPr sz="2000"/>
              <a:t>Outcome</a:t>
            </a:r>
          </a:p>
          <a:p>
            <a:pPr marL="324000" indent="-216000">
              <a:spcAft>
                <a:spcPts val="600"/>
              </a:spcAft>
              <a:buSzPct val="100000"/>
              <a:buFont typeface="Arial"/>
              <a:buChar char="•"/>
            </a:pPr>
            <a:r>
              <a:rPr sz="2000"/>
              <a:t>References</a:t>
            </a:r>
          </a:p>
        </p:txBody>
      </p:sp>
      <p:sp>
        <p:nvSpPr>
          <p:cNvPr id="101" name="Google Shape;101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September 2026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4800">
                <a:latin typeface="Arial"/>
                <a:ea typeface="Arial"/>
                <a:cs typeface="Arial"/>
                <a:sym typeface="Arial"/>
              </a:rPr>
              <a:t>Introduction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825500" y="1381124"/>
            <a:ext cx="11081658" cy="5476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marL="32400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sz="2000"/>
              <a:t>BIT groups choose a project idea every semester, and the same ideas keep coming back: library, attendance, hospital and hotel systems.</a:t>
            </a:r>
            <a:endParaRPr/>
          </a:p>
          <a:p>
            <a:pPr marL="324000" indent="-216000">
              <a:spcAft>
                <a:spcPts val="600"/>
              </a:spcAft>
              <a:buSzPct val="100000"/>
              <a:buFont typeface="Arial"/>
              <a:buChar char="•"/>
            </a:pPr>
            <a:r>
              <a:rPr sz="2000"/>
              <a:t>Origin checks an idea at proposal time against past projects and this semester's locked ideas, and explains every score.</a:t>
            </a:r>
          </a:p>
          <a:p>
            <a:pPr marL="324000" indent="-216000">
              <a:spcAft>
                <a:spcPts val="600"/>
              </a:spcAft>
              <a:buSzPct val="100000"/>
              <a:buFont typeface="Arial"/>
              <a:buChar char="•"/>
            </a:pPr>
            <a:r>
              <a:rPr sz="2000"/>
              <a:t>A Syllabus Map of 41 topics reacts as you type, and the Ideas page suggests real problems built from topics nobody has used.</a:t>
            </a:r>
          </a:p>
          <a:p>
            <a:pPr marL="324000" indent="-216000">
              <a:spcAft>
                <a:spcPts val="600"/>
              </a:spcAft>
              <a:buSzPct val="100000"/>
              <a:buFont typeface="Arial"/>
              <a:buChar char="•"/>
            </a:pPr>
            <a:r>
              <a:rPr sz="2000"/>
              <a:t>Past projects load themselves from files dropped into a folder. Built with Java Servlets and JSP on Tomcat and MySQL.</a:t>
            </a:r>
          </a:p>
        </p:txBody>
      </p:sp>
      <p:sp>
        <p:nvSpPr>
          <p:cNvPr id="109" name="Google Shape;109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September 2026</a:t>
            </a:r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>
            <p:ph type="title"/>
          </p:nvPr>
        </p:nvSpPr>
        <p:spPr>
          <a:xfrm>
            <a:off x="761375" y="2756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4800"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/>
          </a:p>
        </p:txBody>
      </p:sp>
      <p:sp>
        <p:nvSpPr>
          <p:cNvPr id="116" name="Google Shape;116;p4"/>
          <p:cNvSpPr txBox="1"/>
          <p:nvPr>
            <p:ph idx="1" type="body"/>
          </p:nvPr>
        </p:nvSpPr>
        <p:spPr>
          <a:xfrm>
            <a:off x="761375" y="1770193"/>
            <a:ext cx="10364452" cy="3872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6000" marL="32400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sz="2200"/>
              <a:t>Repeated ideas are found late: at the proposal defense or the mid-term, after weeks of work.</a:t>
            </a:r>
            <a:endParaRPr/>
          </a:p>
          <a:p>
            <a:pPr marL="324000" indent="-216000">
              <a:spcAft>
                <a:spcPts val="600"/>
              </a:spcAft>
              <a:buSzPct val="100000"/>
              <a:buFont typeface="Arial"/>
              <a:buChar char="•"/>
            </a:pPr>
            <a:r>
              <a:rPr sz="2200"/>
              <a:t>Renaming hides an old idea ("Library System" becomes "Book Depot Portal"), and buzzwords like "AI" make it look new.</a:t>
            </a:r>
          </a:p>
          <a:p>
            <a:pPr marL="324000" indent="-216000">
              <a:spcAft>
                <a:spcPts val="600"/>
              </a:spcAft>
              <a:buSzPct val="100000"/>
              <a:buFont typeface="Arial"/>
              <a:buChar char="•"/>
            </a:pPr>
            <a:r>
              <a:rPr sz="2200"/>
              <a:t>Tools such as Turnitin check finished text, not ideas, and none shows which areas are still unexplored.</a:t>
            </a:r>
          </a:p>
        </p:txBody>
      </p:sp>
      <p:sp>
        <p:nvSpPr>
          <p:cNvPr id="117" name="Google Shape;117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September 2026</a:t>
            </a: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title"/>
          </p:nvPr>
        </p:nvSpPr>
        <p:spPr>
          <a:xfrm>
            <a:off x="838200" y="365126"/>
            <a:ext cx="10515600" cy="113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</a:pPr>
            <a:r>
              <a:rPr b="1" lang="en-US" sz="4800"/>
              <a:t>General and Specific Objectives</a:t>
            </a:r>
            <a:endParaRPr b="1" sz="4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 txBox="1"/>
          <p:nvPr>
            <p:ph idx="1" type="body"/>
          </p:nvPr>
        </p:nvSpPr>
        <p:spPr>
          <a:xfrm>
            <a:off x="838200" y="1496235"/>
            <a:ext cx="10515600" cy="51113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None/>
            </a:pPr>
            <a:r>
              <a:rPr sz="2000" b="1"/>
              <a:t>General Objective:</a:t>
            </a:r>
            <a:endParaRPr/>
          </a:p>
          <a:p>
            <a:pPr lvl="1" marL="648000" indent="-216000">
              <a:spcAft>
                <a:spcPts val="600"/>
              </a:spcAft>
              <a:buSzPct val="100000"/>
              <a:buFont typeface="Arial"/>
              <a:buChar char="•"/>
            </a:pPr>
            <a:r>
              <a:rPr sz="1800"/>
              <a:t>To build a web application that loads past projects from files, checks an idea against them and current projects, shows untouched syllabus topics and suggests real problems to build.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000" b="1"/>
              <a:t>Specific Objectives:</a:t>
            </a:r>
          </a:p>
          <a:p>
            <a:pPr lvl="1" marL="648000" indent="-216000">
              <a:spcAft>
                <a:spcPts val="600"/>
              </a:spcAft>
              <a:buSzPct val="100000"/>
              <a:buFont typeface="Arial"/>
              <a:buChar char="•"/>
            </a:pPr>
            <a:r>
              <a:rPr sz="1800"/>
              <a:t>Study how BIT ideas repeat and review existing originality tools.</a:t>
            </a:r>
          </a:p>
          <a:p>
            <a:pPr lvl="1" marL="648000" indent="-216000">
              <a:spcAft>
                <a:spcPts val="600"/>
              </a:spcAft>
              <a:buSzPct val="100000"/>
              <a:buFont typeface="Arial"/>
              <a:buChar char="•"/>
            </a:pPr>
            <a:r>
              <a:rPr sz="1800"/>
              <a:t>Design a layered architecture and a self-updating MySQL schema.</a:t>
            </a:r>
          </a:p>
          <a:p>
            <a:pPr lvl="1" marL="648000" indent="-216000">
              <a:spcAft>
                <a:spcPts val="600"/>
              </a:spcAft>
              <a:buSzPct val="100000"/>
              <a:buFont typeface="Arial"/>
              <a:buChar char="•"/>
            </a:pPr>
            <a:r>
              <a:rPr sz="1800"/>
              <a:t>Build an explainable similarity engine that resists renaming and buzzwords.</a:t>
            </a:r>
          </a:p>
          <a:p>
            <a:pPr lvl="1" marL="648000" indent="-216000">
              <a:spcAft>
                <a:spcPts val="600"/>
              </a:spcAft>
              <a:buSzPct val="100000"/>
              <a:buFont typeface="Arial"/>
              <a:buChar char="•"/>
            </a:pPr>
            <a:r>
              <a:rPr sz="1800"/>
              <a:t>Build the Syllabus Map and the idea suggester.</a:t>
            </a:r>
          </a:p>
          <a:p>
            <a:pPr lvl="1" marL="648000" indent="-216000">
              <a:spcAft>
                <a:spcPts val="600"/>
              </a:spcAft>
              <a:buSzPct val="100000"/>
              <a:buFont typeface="Arial"/>
              <a:buChar char="•"/>
            </a:pPr>
            <a:r>
              <a:rPr sz="1800"/>
              <a:t>Implement Class Radar, supervisor review, semester archiving and the DB folder.</a:t>
            </a:r>
          </a:p>
          <a:p>
            <a:pPr lvl="1" marL="648000" indent="-216000">
              <a:spcAft>
                <a:spcPts val="600"/>
              </a:spcAft>
              <a:buSzPct val="100000"/>
              <a:buFont typeface="Arial"/>
              <a:buChar char="•"/>
            </a:pPr>
            <a:r>
              <a:rPr sz="1800"/>
              <a:t>Test for correctness, security and performance.</a:t>
            </a:r>
          </a:p>
        </p:txBody>
      </p:sp>
      <p:sp>
        <p:nvSpPr>
          <p:cNvPr id="125" name="Google Shape;12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September 2026</a:t>
            </a:r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4800">
                <a:latin typeface="Arial"/>
                <a:ea typeface="Arial"/>
                <a:cs typeface="Arial"/>
                <a:sym typeface="Arial"/>
              </a:rPr>
              <a:t>Scope of Project</a:t>
            </a:r>
            <a:endParaRPr/>
          </a:p>
        </p:txBody>
      </p:sp>
      <p:sp>
        <p:nvSpPr>
          <p:cNvPr id="132" name="Google Shape;132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6000" marL="32400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sz="2000"/>
              <a:t>Idea check against the past-project corpus and this semester's locked ideas, with a score split into tags, words and type, told as a story.</a:t>
            </a:r>
            <a:endParaRPr/>
          </a:p>
          <a:p>
            <a:pPr marL="324000" indent="-216000">
              <a:spcAft>
                <a:spcPts val="600"/>
              </a:spcAft>
              <a:buSzPct val="100000"/>
              <a:buFont typeface="Arial"/>
              <a:buChar char="•"/>
            </a:pPr>
            <a:r>
              <a:rPr sz="2000"/>
              <a:t>Class Radar: one locked idea per group per semester; clashes between groups shown to both.</a:t>
            </a:r>
          </a:p>
          <a:p>
            <a:pPr marL="324000" indent="-216000">
              <a:spcAft>
                <a:spcPts val="600"/>
              </a:spcAft>
              <a:buSzPct val="100000"/>
              <a:buFont typeface="Arial"/>
              <a:buChar char="•"/>
            </a:pPr>
            <a:r>
              <a:rPr sz="2000"/>
              <a:t>Syllabus Map and ranked idea suggestions; DB-folder import of CSV only; supervisor review and semester archiving.</a:t>
            </a:r>
          </a:p>
          <a:p>
            <a:pPr marL="324000" indent="-216000">
              <a:spcAft>
                <a:spcPts val="600"/>
              </a:spcAft>
              <a:buSzPct val="100000"/>
              <a:buFont typeface="Arial"/>
              <a:buChar char="•"/>
            </a:pPr>
            <a:r>
              <a:rPr sz="2000"/>
              <a:t>Not included: PDF files, checking finished reports or code for copied text, mobile app, multi-college use.</a:t>
            </a:r>
          </a:p>
        </p:txBody>
      </p:sp>
      <p:sp>
        <p:nvSpPr>
          <p:cNvPr id="133" name="Google Shape;133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September 2026</a:t>
            </a:r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>
            <p:ph type="title"/>
          </p:nvPr>
        </p:nvSpPr>
        <p:spPr>
          <a:xfrm>
            <a:off x="913774" y="1359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Feasibility Analysis</a:t>
            </a:r>
            <a:endParaRPr/>
          </a:p>
        </p:txBody>
      </p:sp>
      <p:sp>
        <p:nvSpPr>
          <p:cNvPr id="140" name="Google Shape;140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6000" marL="32400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sz="2000" b="1"/>
              <a:t>Technical:</a:t>
            </a:r>
            <a:r>
              <a:rPr sz="2000" b="0"/>
              <a:t> Java, Servlets, JSP, JDBC and MySQL are all in the 4th-semester syllabus and are free.</a:t>
            </a:r>
            <a:endParaRPr/>
          </a:p>
          <a:p>
            <a:pPr marL="324000" indent="-216000">
              <a:spcAft>
                <a:spcPts val="600"/>
              </a:spcAft>
              <a:buSzPct val="100000"/>
              <a:buFont typeface="Arial"/>
              <a:buChar char="•"/>
            </a:pPr>
            <a:r>
              <a:rPr sz="2000" b="1"/>
              <a:t>Operational:</a:t>
            </a:r>
            <a:r>
              <a:rPr sz="2000" b="0"/>
              <a:t> students enter what they already write in a proposal; no training needed.</a:t>
            </a:r>
          </a:p>
          <a:p>
            <a:pPr marL="324000" indent="-216000">
              <a:spcAft>
                <a:spcPts val="600"/>
              </a:spcAft>
              <a:buSzPct val="100000"/>
              <a:buFont typeface="Arial"/>
              <a:buChar char="•"/>
            </a:pPr>
            <a:r>
              <a:rPr sz="2000" b="1"/>
              <a:t>Economic:</a:t>
            </a:r>
            <a:r>
              <a:rPr sz="2000" b="0"/>
              <a:t> all tools are free; no paid service is needed.</a:t>
            </a:r>
          </a:p>
          <a:p>
            <a:pPr marL="324000" indent="-216000">
              <a:spcAft>
                <a:spcPts val="600"/>
              </a:spcAft>
              <a:buSzPct val="100000"/>
              <a:buFont typeface="Arial"/>
              <a:buChar char="•"/>
            </a:pPr>
            <a:r>
              <a:rPr sz="2000" b="1"/>
              <a:t>Schedule:</a:t>
            </a:r>
            <a:r>
              <a:rPr sz="2000" b="0"/>
              <a:t> five increments from February to October 2026.</a:t>
            </a:r>
          </a:p>
        </p:txBody>
      </p:sp>
      <p:sp>
        <p:nvSpPr>
          <p:cNvPr id="141" name="Google Shape;14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September 2026</a:t>
            </a:r>
          </a:p>
        </p:txBody>
      </p:sp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955b94820_0_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                   </a:t>
            </a:r>
            <a:r>
              <a:rPr b="1" lang="en-US"/>
              <a:t>Literature Review</a:t>
            </a:r>
            <a:endParaRPr b="1"/>
          </a:p>
        </p:txBody>
      </p:sp>
      <p:sp>
        <p:nvSpPr>
          <p:cNvPr id="150" name="Google Shape;150;g3f955b94820_0_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51" name="Table 150"/>
          <p:cNvGraphicFramePr>
            <a:graphicFrameLocks noGrp="1"/>
          </p:cNvGraphicFramePr>
          <p:nvPr/>
        </p:nvGraphicFramePr>
        <p:xfrm>
          <a:off x="720000" y="1584000"/>
          <a:ext cx="10728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/>
                <a:gridCol w="3420000"/>
                <a:gridCol w="4428000"/>
              </a:tblGrid>
              <a:tr h="36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>
                    <a:solidFill>
                      <a:srgbClr val="1235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What it checks</a:t>
                      </a:r>
                    </a:p>
                  </a:txBody>
                  <a:tcPr>
                    <a:solidFill>
                      <a:srgbClr val="1235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What it cannot do</a:t>
                      </a:r>
                    </a:p>
                  </a:txBody>
                  <a:tcPr>
                    <a:solidFill>
                      <a:srgbClr val="12352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600" b="0"/>
                        <a:t>Turnitin, iThenticate</a:t>
                      </a:r>
                    </a:p>
                  </a:txBody>
                  <a:tcPr>
                    <a:solidFill>
                      <a:srgbClr val="F3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Finished writing</a:t>
                      </a:r>
                    </a:p>
                  </a:txBody>
                  <a:tcPr>
                    <a:solidFill>
                      <a:srgbClr val="F3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Judge an idea before it is written</a:t>
                      </a:r>
                    </a:p>
                  </a:txBody>
                  <a:tcPr>
                    <a:solidFill>
                      <a:srgbClr val="F3F6F2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600" b="0"/>
                        <a:t>MOSS, JPlag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Finished source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Say anything about the idea itself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600" b="0"/>
                        <a:t>DSpace repository</a:t>
                      </a:r>
                    </a:p>
                  </a:txBody>
                  <a:tcPr>
                    <a:solidFill>
                      <a:srgbClr val="F3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Stores past reports</a:t>
                      </a:r>
                    </a:p>
                  </a:txBody>
                  <a:tcPr>
                    <a:solidFill>
                      <a:srgbClr val="F3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Score similarity or show gaps</a:t>
                      </a:r>
                    </a:p>
                  </a:txBody>
                  <a:tcPr>
                    <a:solidFill>
                      <a:srgbClr val="F3F6F2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600" b="0"/>
                        <a:t>Google Scholar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Published research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See a college's own student 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600" b="0"/>
                        <a:t>Supervisor memory</a:t>
                      </a:r>
                    </a:p>
                  </a:txBody>
                  <a:tcPr>
                    <a:solidFill>
                      <a:srgbClr val="F3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Common repeats</a:t>
                      </a:r>
                    </a:p>
                  </a:txBody>
                  <a:tcPr>
                    <a:solidFill>
                      <a:srgbClr val="F3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Scale, or catch same-week clashes</a:t>
                      </a:r>
                    </a:p>
                  </a:txBody>
                  <a:tcPr>
                    <a:solidFill>
                      <a:srgbClr val="F3F6F2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600" b="0"/>
                        <a:t>Origin (this project)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The idea, at proposal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Replace a check of finished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4800">
                <a:latin typeface="Arial"/>
                <a:ea typeface="Arial"/>
                <a:cs typeface="Arial"/>
                <a:sym typeface="Arial"/>
              </a:rPr>
              <a:t>“Used SDLC Model”</a:t>
            </a:r>
            <a:endParaRPr/>
          </a:p>
        </p:txBody>
      </p:sp>
      <p:sp>
        <p:nvSpPr>
          <p:cNvPr id="157" name="Google Shape;1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September 2026</a:t>
            </a:r>
          </a:p>
        </p:txBody>
      </p:sp>
      <p:pic>
        <p:nvPicPr>
          <p:cNvPr id="159" name="Picture 158" descr="fig-sdl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911" y="1224000"/>
            <a:ext cx="6334177" cy="5004000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/>
          <p:nvPr>
            <p:ph type="title"/>
          </p:nvPr>
        </p:nvSpPr>
        <p:spPr>
          <a:xfrm>
            <a:off x="3152274" y="236180"/>
            <a:ext cx="6220326" cy="11975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4800">
                <a:latin typeface="Arial"/>
                <a:ea typeface="Arial"/>
                <a:cs typeface="Arial"/>
                <a:sym typeface="Arial"/>
              </a:rPr>
              <a:t>System-Architecture</a:t>
            </a:r>
            <a:endParaRPr/>
          </a:p>
        </p:txBody>
      </p:sp>
      <p:sp>
        <p:nvSpPr>
          <p:cNvPr id="164" name="Google Shape;1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September 2026</a:t>
            </a:r>
          </a:p>
        </p:txBody>
      </p:sp>
      <p:pic>
        <p:nvPicPr>
          <p:cNvPr id="166" name="Picture 165" descr="fig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830" y="1224000"/>
            <a:ext cx="5094339" cy="5399999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"/>
          <p:cNvSpPr txBox="1"/>
          <p:nvPr>
            <p:ph type="title"/>
          </p:nvPr>
        </p:nvSpPr>
        <p:spPr>
          <a:xfrm>
            <a:off x="2322096" y="356337"/>
            <a:ext cx="7495672" cy="1111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4000">
                <a:latin typeface="Arial"/>
                <a:ea typeface="Arial"/>
                <a:cs typeface="Arial"/>
                <a:sym typeface="Arial"/>
              </a:rPr>
              <a:t>System Flow Diagram</a:t>
            </a:r>
            <a:br>
              <a:rPr b="1" lang="en-US" sz="4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4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71" name="Google Shape;17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" name="Google Shape;17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September 2026</a:t>
            </a:r>
          </a:p>
        </p:txBody>
      </p:sp>
      <p:pic>
        <p:nvPicPr>
          <p:cNvPr id="173" name="Picture 172" descr="fig-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000" y="1224000"/>
            <a:ext cx="3999999" cy="5399999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 txBox="1"/>
          <p:nvPr>
            <p:ph type="title"/>
          </p:nvPr>
        </p:nvSpPr>
        <p:spPr>
          <a:xfrm>
            <a:off x="0" y="212117"/>
            <a:ext cx="12192000" cy="11975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b="1" lang="en-US" sz="4200">
                <a:latin typeface="Arial"/>
                <a:ea typeface="Arial"/>
                <a:cs typeface="Arial"/>
                <a:sym typeface="Arial"/>
              </a:rPr>
              <a:t>Use Case Diagram</a:t>
            </a:r>
            <a:endParaRPr/>
          </a:p>
        </p:txBody>
      </p:sp>
      <p:sp>
        <p:nvSpPr>
          <p:cNvPr id="178" name="Google Shape;17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September 2026</a:t>
            </a:r>
          </a:p>
        </p:txBody>
      </p:sp>
      <p:pic>
        <p:nvPicPr>
          <p:cNvPr id="180" name="Picture 179" descr="fig-use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571" y="1224000"/>
            <a:ext cx="5142857" cy="5399999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/>
          <p:nvPr>
            <p:ph type="title"/>
          </p:nvPr>
        </p:nvSpPr>
        <p:spPr>
          <a:xfrm>
            <a:off x="244929" y="176439"/>
            <a:ext cx="11702142" cy="854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4000">
                <a:latin typeface="Arial"/>
                <a:ea typeface="Arial"/>
                <a:cs typeface="Arial"/>
                <a:sym typeface="Arial"/>
              </a:rPr>
              <a:t>DFD-0  Context Diagram</a:t>
            </a:r>
            <a:endParaRPr/>
          </a:p>
        </p:txBody>
      </p:sp>
      <p:sp>
        <p:nvSpPr>
          <p:cNvPr id="185" name="Google Shape;18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September 2026</a:t>
            </a:r>
          </a:p>
        </p:txBody>
      </p:sp>
      <p:pic>
        <p:nvPicPr>
          <p:cNvPr id="187" name="Picture 186" descr="fig-df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626" y="1066514"/>
            <a:ext cx="7940747" cy="5161486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 txBox="1"/>
          <p:nvPr>
            <p:ph type="title"/>
          </p:nvPr>
        </p:nvSpPr>
        <p:spPr>
          <a:xfrm>
            <a:off x="138350" y="0"/>
            <a:ext cx="116586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4000">
                <a:latin typeface="Arial"/>
                <a:ea typeface="Arial"/>
                <a:cs typeface="Arial"/>
                <a:sym typeface="Arial"/>
              </a:rPr>
              <a:t>DFD-1</a:t>
            </a:r>
            <a:endParaRPr/>
          </a:p>
        </p:txBody>
      </p:sp>
      <p:sp>
        <p:nvSpPr>
          <p:cNvPr id="192" name="Google Shape;19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September 2026</a:t>
            </a:r>
          </a:p>
        </p:txBody>
      </p:sp>
      <p:pic>
        <p:nvPicPr>
          <p:cNvPr id="194" name="Picture 193" descr="fig-df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000" y="936000"/>
            <a:ext cx="8100000" cy="5292000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"/>
          <p:cNvSpPr txBox="1"/>
          <p:nvPr>
            <p:ph type="title"/>
          </p:nvPr>
        </p:nvSpPr>
        <p:spPr>
          <a:xfrm>
            <a:off x="3733844" y="272275"/>
            <a:ext cx="4255126" cy="613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4800">
                <a:latin typeface="Arial"/>
                <a:ea typeface="Arial"/>
                <a:cs typeface="Arial"/>
                <a:sym typeface="Arial"/>
              </a:rPr>
              <a:t>ER-Diagram</a:t>
            </a:r>
            <a:endParaRPr/>
          </a:p>
        </p:txBody>
      </p:sp>
      <p:sp>
        <p:nvSpPr>
          <p:cNvPr id="199" name="Google Shape;19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September 2026</a:t>
            </a:r>
          </a:p>
        </p:txBody>
      </p:sp>
      <p:pic>
        <p:nvPicPr>
          <p:cNvPr id="201" name="Picture 200" descr="fig-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400" y="936000"/>
            <a:ext cx="6523200" cy="5292000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955b94820_0_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Hardware and Software Requirements</a:t>
            </a:r>
            <a:endParaRPr b="1"/>
          </a:p>
        </p:txBody>
      </p:sp>
      <p:sp>
        <p:nvSpPr>
          <p:cNvPr id="208" name="Google Shape;208;g3f955b94820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09" name="Table 208"/>
          <p:cNvGraphicFramePr>
            <a:graphicFrameLocks noGrp="1"/>
          </p:cNvGraphicFramePr>
          <p:nvPr/>
        </p:nvGraphicFramePr>
        <p:xfrm>
          <a:off x="720000" y="1584000"/>
          <a:ext cx="10728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0"/>
                <a:gridCol w="7488000"/>
              </a:tblGrid>
              <a:tr h="36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1235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Specification</a:t>
                      </a:r>
                    </a:p>
                  </a:txBody>
                  <a:tcPr>
                    <a:solidFill>
                      <a:srgbClr val="12352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600" b="0"/>
                        <a:t>Processor / RAM</a:t>
                      </a:r>
                    </a:p>
                  </a:txBody>
                  <a:tcPr>
                    <a:solidFill>
                      <a:srgbClr val="F3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Intel Core i3 or better, 4 GB RAM (8 GB recommended)</a:t>
                      </a:r>
                    </a:p>
                  </a:txBody>
                  <a:tcPr>
                    <a:solidFill>
                      <a:srgbClr val="F3F6F2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600" b="0"/>
                        <a:t>Operating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Windows 10/11 or Ubuntu 20.04+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600" b="0"/>
                        <a:t>Language and container</a:t>
                      </a:r>
                    </a:p>
                  </a:txBody>
                  <a:tcPr>
                    <a:solidFill>
                      <a:srgbClr val="F3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Java 17+, Apache Tomcat 10.1 (Servlets 6.0, JSP 3.1, JSTL)</a:t>
                      </a:r>
                    </a:p>
                  </a:txBody>
                  <a:tcPr>
                    <a:solidFill>
                      <a:srgbClr val="F3F6F2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600" b="0"/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MySQL 8.4 through JDBC (Connector/J)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600" b="0"/>
                        <a:t>Build and test</a:t>
                      </a:r>
                    </a:p>
                  </a:txBody>
                  <a:tcPr>
                    <a:solidFill>
                      <a:srgbClr val="F3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Maven 3.9, JUnit 5, Chrome DevTools driver (Node)</a:t>
                      </a:r>
                    </a:p>
                  </a:txBody>
                  <a:tcPr>
                    <a:solidFill>
                      <a:srgbClr val="F3F6F2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600" b="0"/>
                        <a:t>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IntelliJ IDEA / VS Code, Git and GitHub, Chrome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600" b="0"/>
                        <a:t>File reading</a:t>
                      </a:r>
                    </a:p>
                  </a:txBody>
                  <a:tcPr>
                    <a:solidFill>
                      <a:srgbClr val="F3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/>
                        <a:t>java.io for CSV files: comma, pipe, tab and semicolon delimiters, quoted cells, byte-order mark (no extra library)</a:t>
                      </a:r>
                    </a:p>
                  </a:txBody>
                  <a:tcPr>
                    <a:solidFill>
                      <a:srgbClr val="F3F6F2"/>
                    </a:solidFill>
                  </a:tcPr>
                </a:tc>
              </a:tr>
            </a:tbl>
          </a:graphicData>
        </a:graphic>
      </p:graphicFrame>
      <p:sp>
        <p:nvSpPr>
          <p:cNvPr id="200" name="Google Shape;20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September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955b94820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           </a:t>
            </a:r>
            <a:r>
              <a:rPr b="1" lang="en-US"/>
              <a:t>Expected Outcome</a:t>
            </a:r>
            <a:endParaRPr b="1"/>
          </a:p>
        </p:txBody>
      </p:sp>
      <p:sp>
        <p:nvSpPr>
          <p:cNvPr id="215" name="Google Shape;215;g3f955b94820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6000" marL="324000" rtl="0" algn="l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SzPct val="100000"/>
              <a:buFont typeface="Arial"/>
              <a:buChar char="•"/>
            </a:pPr>
            <a:r>
              <a:rPr sz="2000"/>
              <a:t>Working system: Syllabus Map, idea check, ideas with proof, Class Radar, DB-folder import and supervisor desk.</a:t>
            </a:r>
            <a:endParaRPr/>
          </a:p>
          <a:p>
            <a:pPr marL="324000" indent="-216000">
              <a:spcAft>
                <a:spcPts val="600"/>
              </a:spcAft>
              <a:buSzPct val="100000"/>
              <a:buFont typeface="Arial"/>
              <a:buChar char="•"/>
            </a:pPr>
            <a:r>
              <a:rPr sz="2000"/>
              <a:t>Renamed library idea caught at 62%; the formula agrees with human labels on 22 of 25 pairs, as often as the old one.</a:t>
            </a:r>
          </a:p>
          <a:p>
            <a:pPr marL="324000" indent="-216000">
              <a:spcAft>
                <a:spcPts val="600"/>
              </a:spcAft>
              <a:buSzPct val="100000"/>
              <a:buFont typeface="Arial"/>
              <a:buChar char="•"/>
            </a:pPr>
            <a:r>
              <a:rPr sz="2000"/>
              <a:t>DB folder: real CSV files were read in 8 seconds and the pages updated on their own.</a:t>
            </a:r>
          </a:p>
          <a:p>
            <a:pPr marL="324000" indent="-216000">
              <a:spcAft>
                <a:spcPts val="600"/>
              </a:spcAft>
              <a:buSzPct val="100000"/>
              <a:buFont typeface="Arial"/>
              <a:buChar char="•"/>
            </a:pPr>
            <a:r>
              <a:rPr sz="2000"/>
              <a:t>84 suggestions from 42 real problems, each with proof; 7 taken by locked groups; 25 tables, 6 triggers, 4 views, 2 procedures.</a:t>
            </a:r>
          </a:p>
          <a:p>
            <a:pPr marL="324000" indent="-216000">
              <a:spcAft>
                <a:spcPts val="600"/>
              </a:spcAft>
              <a:buSzPct val="100000"/>
              <a:buFont typeface="Arial"/>
              <a:buChar char="•"/>
            </a:pPr>
            <a:r>
              <a:rPr sz="2000"/>
              <a:t>81 automated tests pass; every page answers in under 0.4 s.</a:t>
            </a:r>
          </a:p>
        </p:txBody>
      </p:sp>
      <p:sp>
        <p:nvSpPr>
          <p:cNvPr id="216" name="Google Shape;216;g3f955b94820_0_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September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"/>
          <p:cNvSpPr txBox="1"/>
          <p:nvPr>
            <p:ph type="title"/>
          </p:nvPr>
        </p:nvSpPr>
        <p:spPr>
          <a:xfrm>
            <a:off x="5969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latin typeface="Calibri"/>
                <a:ea typeface="Calibri"/>
                <a:cs typeface="Calibri"/>
                <a:sym typeface="Calibri"/>
              </a:rPr>
              <a:t>Reference</a:t>
            </a:r>
            <a:endParaRPr/>
          </a:p>
        </p:txBody>
      </p:sp>
      <p:sp>
        <p:nvSpPr>
          <p:cNvPr id="222" name="Google Shape;222;p17"/>
          <p:cNvSpPr txBox="1"/>
          <p:nvPr>
            <p:ph idx="1" type="body"/>
          </p:nvPr>
        </p:nvSpPr>
        <p:spPr>
          <a:xfrm>
            <a:off x="925286" y="1016000"/>
            <a:ext cx="10515600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0000" marL="360000" rtl="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None/>
            </a:pPr>
            <a:r>
              <a:rPr sz="1500"/>
              <a:t>[1] Turnitin, LLC, "Turnitin Similarity." [Online]. Available: https://www.turnitin.com</a:t>
            </a:r>
            <a:endParaRPr sz="1800"/>
          </a:p>
          <a:p>
            <a:pPr marL="360000" indent="-360000">
              <a:spcAft>
                <a:spcPts val="600"/>
              </a:spcAft>
              <a:buNone/>
            </a:pPr>
            <a:r>
              <a:rPr sz="1500"/>
              <a:t>[2] S. Schleimer, D. S. Wilkerson, and A. Aiken, "Winnowing: Local algorithms for document fingerprinting," in Proc. ACM SIGMOD, 2003, pp. 76-85.</a:t>
            </a:r>
          </a:p>
          <a:p>
            <a:pPr marL="360000" indent="-360000">
              <a:spcAft>
                <a:spcPts val="600"/>
              </a:spcAft>
              <a:buNone/>
            </a:pPr>
            <a:r>
              <a:rPr sz="1500"/>
              <a:t>[3] P. Jaccard, "The distribution of the flora in the alpine zone," New Phytologist, vol. 11, no. 2, pp. 37-50, 1912.</a:t>
            </a:r>
          </a:p>
          <a:p>
            <a:pPr marL="360000" indent="-360000">
              <a:spcAft>
                <a:spcPts val="600"/>
              </a:spcAft>
              <a:buNone/>
            </a:pPr>
            <a:r>
              <a:rPr sz="1500"/>
              <a:t>[4] A. Silberschatz, H. F. Korth, and S. Sudarshan, Database System Concepts, 7th ed. McGraw-Hill, 2019.</a:t>
            </a:r>
          </a:p>
          <a:p>
            <a:pPr marL="360000" indent="-360000">
              <a:spcAft>
                <a:spcPts val="600"/>
              </a:spcAft>
              <a:buNone/>
            </a:pPr>
            <a:r>
              <a:rPr sz="1500"/>
              <a:t>[5] Eclipse Foundation, "Jakarta Servlet Specification, Version 6.0." [Online]. Available: https://jakarta.ee</a:t>
            </a:r>
          </a:p>
          <a:p>
            <a:pPr marL="360000" indent="-360000">
              <a:spcAft>
                <a:spcPts val="600"/>
              </a:spcAft>
              <a:buNone/>
            </a:pPr>
            <a:r>
              <a:rPr sz="1500"/>
              <a:t>[6] C. D. Manning, P. Raghavan, and H. Schutze, Introduction to Information Retrieval. Cambridge Univ. Press, 2008.</a:t>
            </a:r>
          </a:p>
          <a:p>
            <a:pPr marL="360000" indent="-360000">
              <a:spcAft>
                <a:spcPts val="600"/>
              </a:spcAft>
              <a:buNone/>
            </a:pPr>
            <a:r>
              <a:rPr sz="1500"/>
              <a:t>[7] I. Sommerville, Software Engineering, 10th ed. Pearson, 2016.</a:t>
            </a:r>
          </a:p>
          <a:p>
            <a:pPr marL="360000" indent="-360000">
              <a:spcAft>
                <a:spcPts val="600"/>
              </a:spcAft>
              <a:buNone/>
            </a:pPr>
            <a:r>
              <a:rPr sz="1500"/>
              <a:t>[8] H. Schildt, Java: The Complete Reference, 12th ed. McGraw-Hill, 2021.</a:t>
            </a:r>
          </a:p>
        </p:txBody>
      </p:sp>
      <p:sp>
        <p:nvSpPr>
          <p:cNvPr id="223" name="Google Shape;22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4" name="Google Shape;22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September 2026</a:t>
            </a:r>
          </a:p>
        </p:txBody>
      </p:sp>
    </p:spTree>
  </p:cSld>
  <p:clrMapOvr>
    <a:masterClrMapping/>
  </p:clrMapOvr>
  <p:transition spd="med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 txBox="1"/>
          <p:nvPr>
            <p:ph type="title"/>
          </p:nvPr>
        </p:nvSpPr>
        <p:spPr>
          <a:xfrm>
            <a:off x="838200" y="232455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b="1" lang="en-US" sz="6000"/>
              <a:t>Thank You </a:t>
            </a:r>
            <a:endParaRPr/>
          </a:p>
        </p:txBody>
      </p:sp>
      <p:sp>
        <p:nvSpPr>
          <p:cNvPr id="230" name="Google Shape;23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September 2026</a:t>
            </a:r>
          </a:p>
        </p:txBody>
      </p:sp>
    </p:spTree>
  </p:cSld>
  <p:clrMapOvr>
    <a:masterClrMapping/>
  </p:clrMapOvr>
  <p:transition spd="med">
    <p:push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8" name="Google Shape;198;p14"/>
          <p:cNvSpPr txBox="1"/>
          <p:nvPr>
            <p:ph type="title"/>
          </p:nvPr>
        </p:nvSpPr>
        <p:spPr>
          <a:xfrm>
            <a:off x="3733844" y="272275"/>
            <a:ext cx="4255126" cy="613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4800">
                <a:latin typeface="Arial"/>
                <a:ea typeface="Arial"/>
                <a:cs typeface="Arial"/>
                <a:sym typeface="Arial"/>
              </a:rPr>
              <a:t>Syllabus Map</a:t>
            </a:r>
            <a:endParaRPr/>
          </a:p>
        </p:txBody>
      </p:sp>
      <p:sp>
        <p:nvSpPr>
          <p:cNvPr id="200" name="Google Shape;20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September 2026</a:t>
            </a:r>
          </a:p>
        </p:txBody>
      </p:sp>
      <p:sp>
        <p:nvSpPr>
          <p:cNvPr id="199" name="Google Shape;19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1" name="Picture 200" descr="f5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400" y="936000"/>
            <a:ext cx="8467200" cy="529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2026-05-21T15:03:49Z</dcterms:created>
  <dc:creator>sujan bhattarai</dc:creator>
</cp:coreProperties>
</file>